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3" userDrawn="1">
          <p15:clr>
            <a:srgbClr val="A4A3A4"/>
          </p15:clr>
        </p15:guide>
        <p15:guide id="2" pos="38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54A1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23"/>
        <p:guide pos="384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3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840740" y="84455"/>
            <a:ext cx="8845550" cy="64833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圆角矩形 29"/>
          <p:cNvSpPr/>
          <p:nvPr/>
        </p:nvSpPr>
        <p:spPr>
          <a:xfrm>
            <a:off x="944245" y="592455"/>
            <a:ext cx="8674735" cy="1791970"/>
          </a:xfrm>
          <a:prstGeom prst="roundRect">
            <a:avLst>
              <a:gd name="adj" fmla="val 367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1019175" y="1076960"/>
            <a:ext cx="1093470" cy="1249680"/>
          </a:xfrm>
          <a:prstGeom prst="roundRect">
            <a:avLst>
              <a:gd name="adj" fmla="val 548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3640" y="1894840"/>
            <a:ext cx="763905" cy="16573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376045" y="1296670"/>
            <a:ext cx="5168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bg1">
                    <a:lumMod val="65000"/>
                  </a:schemeClr>
                </a:solidFill>
              </a:rPr>
              <a:t>+</a:t>
            </a:r>
            <a:endParaRPr lang="en-US" altLang="zh-CN" sz="28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193925" y="1077595"/>
            <a:ext cx="7205345" cy="124904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236470" y="1319530"/>
            <a:ext cx="2090420" cy="182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6597650" y="1074420"/>
            <a:ext cx="67691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/>
              <a:t>文件</a:t>
            </a:r>
            <a:r>
              <a:rPr lang="zh-CN" altLang="en-US" sz="800"/>
              <a:t>描述</a:t>
            </a:r>
            <a:endParaRPr lang="zh-CN" altLang="en-US" sz="800"/>
          </a:p>
        </p:txBody>
      </p:sp>
      <p:sp>
        <p:nvSpPr>
          <p:cNvPr id="16" name="文本框 15"/>
          <p:cNvSpPr txBox="1"/>
          <p:nvPr/>
        </p:nvSpPr>
        <p:spPr>
          <a:xfrm>
            <a:off x="2437130" y="1099820"/>
            <a:ext cx="51308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/>
              <a:t>文件名</a:t>
            </a:r>
            <a:endParaRPr lang="zh-CN" altLang="en-US" sz="800"/>
          </a:p>
        </p:txBody>
      </p:sp>
      <p:sp>
        <p:nvSpPr>
          <p:cNvPr id="17" name="文本框 16"/>
          <p:cNvSpPr txBox="1"/>
          <p:nvPr/>
        </p:nvSpPr>
        <p:spPr>
          <a:xfrm>
            <a:off x="4326890" y="1099820"/>
            <a:ext cx="67691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/>
              <a:t>文件</a:t>
            </a:r>
            <a:r>
              <a:rPr lang="zh-CN" altLang="en-US" sz="800"/>
              <a:t>类型</a:t>
            </a:r>
            <a:endParaRPr lang="zh-CN" altLang="en-US" sz="800"/>
          </a:p>
        </p:txBody>
      </p:sp>
      <p:sp>
        <p:nvSpPr>
          <p:cNvPr id="18" name="文本框 17"/>
          <p:cNvSpPr txBox="1"/>
          <p:nvPr/>
        </p:nvSpPr>
        <p:spPr>
          <a:xfrm>
            <a:off x="2322830" y="1313815"/>
            <a:ext cx="74168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/>
              <a:t>file1.</a:t>
            </a:r>
            <a:r>
              <a:rPr lang="en-US" altLang="zh-CN" sz="800"/>
              <a:t>docx</a:t>
            </a:r>
            <a:endParaRPr lang="en-US" altLang="zh-CN" sz="800"/>
          </a:p>
        </p:txBody>
      </p:sp>
      <p:sp>
        <p:nvSpPr>
          <p:cNvPr id="37" name="矩形 36"/>
          <p:cNvSpPr/>
          <p:nvPr/>
        </p:nvSpPr>
        <p:spPr>
          <a:xfrm>
            <a:off x="2239010" y="1539240"/>
            <a:ext cx="2090420" cy="182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175" y="592455"/>
            <a:ext cx="873760" cy="266065"/>
          </a:xfrm>
          <a:prstGeom prst="rect">
            <a:avLst/>
          </a:prstGeom>
        </p:spPr>
      </p:pic>
      <p:sp>
        <p:nvSpPr>
          <p:cNvPr id="32" name="矩形 31"/>
          <p:cNvSpPr/>
          <p:nvPr/>
        </p:nvSpPr>
        <p:spPr>
          <a:xfrm>
            <a:off x="840740" y="78740"/>
            <a:ext cx="8857615" cy="39624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944245" y="139700"/>
            <a:ext cx="12680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solidFill>
                  <a:schemeClr val="bg1"/>
                </a:solidFill>
              </a:rPr>
              <a:t>文件管理系统</a:t>
            </a:r>
            <a:endParaRPr lang="zh-CN" altLang="en-US" sz="1200" b="1">
              <a:solidFill>
                <a:schemeClr val="bg1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382770" y="1316990"/>
            <a:ext cx="537845" cy="182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4971415" y="1533525"/>
            <a:ext cx="3631565" cy="182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4432935" y="1319530"/>
            <a:ext cx="43243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/>
              <a:t>Word</a:t>
            </a:r>
            <a:endParaRPr lang="en-US" altLang="zh-CN" sz="800"/>
          </a:p>
        </p:txBody>
      </p:sp>
      <p:sp>
        <p:nvSpPr>
          <p:cNvPr id="36" name="矩形 35"/>
          <p:cNvSpPr/>
          <p:nvPr/>
        </p:nvSpPr>
        <p:spPr>
          <a:xfrm>
            <a:off x="4970780" y="1319530"/>
            <a:ext cx="3631565" cy="182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5166995" y="1288415"/>
            <a:ext cx="340677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/>
              <a:t>公司制度文件，生产管理撒旦法水电费阿斯蒂芬</a:t>
            </a:r>
            <a:r>
              <a:rPr lang="zh-CN" altLang="en-US" sz="800"/>
              <a:t>阿斯蒂芬</a:t>
            </a:r>
            <a:endParaRPr lang="zh-CN" altLang="en-US" sz="800"/>
          </a:p>
        </p:txBody>
      </p:sp>
      <p:sp>
        <p:nvSpPr>
          <p:cNvPr id="38" name="矩形 37"/>
          <p:cNvSpPr/>
          <p:nvPr/>
        </p:nvSpPr>
        <p:spPr>
          <a:xfrm>
            <a:off x="4391660" y="1530985"/>
            <a:ext cx="537845" cy="182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2327275" y="1508125"/>
            <a:ext cx="74168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/>
              <a:t>file2.</a:t>
            </a:r>
            <a:r>
              <a:rPr lang="en-US" altLang="zh-CN" sz="800"/>
              <a:t>xls</a:t>
            </a:r>
            <a:endParaRPr lang="en-US" altLang="zh-CN" sz="800"/>
          </a:p>
        </p:txBody>
      </p:sp>
      <p:sp>
        <p:nvSpPr>
          <p:cNvPr id="40" name="圆角矩形 39"/>
          <p:cNvSpPr/>
          <p:nvPr/>
        </p:nvSpPr>
        <p:spPr>
          <a:xfrm>
            <a:off x="944245" y="2433955"/>
            <a:ext cx="8674735" cy="4069715"/>
          </a:xfrm>
          <a:prstGeom prst="roundRect">
            <a:avLst>
              <a:gd name="adj" fmla="val 367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175" y="2433955"/>
            <a:ext cx="815975" cy="258445"/>
          </a:xfrm>
          <a:prstGeom prst="rect">
            <a:avLst/>
          </a:prstGeom>
        </p:spPr>
      </p:pic>
      <p:sp>
        <p:nvSpPr>
          <p:cNvPr id="42" name="单圆角矩形 41"/>
          <p:cNvSpPr/>
          <p:nvPr/>
        </p:nvSpPr>
        <p:spPr>
          <a:xfrm flipH="1">
            <a:off x="1019175" y="2741930"/>
            <a:ext cx="356235" cy="190500"/>
          </a:xfrm>
          <a:prstGeom prst="round1Rect">
            <a:avLst>
              <a:gd name="adj" fmla="val 37073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600">
                <a:solidFill>
                  <a:schemeClr val="tx1"/>
                </a:solidFill>
              </a:rPr>
              <a:t>全部</a:t>
            </a:r>
            <a:endParaRPr lang="zh-CN" altLang="en-US" sz="600">
              <a:solidFill>
                <a:schemeClr val="tx1"/>
              </a:solidFill>
            </a:endParaRPr>
          </a:p>
        </p:txBody>
      </p:sp>
      <p:sp>
        <p:nvSpPr>
          <p:cNvPr id="43" name="单圆角矩形 42"/>
          <p:cNvSpPr/>
          <p:nvPr/>
        </p:nvSpPr>
        <p:spPr>
          <a:xfrm flipH="1">
            <a:off x="1375410" y="2741930"/>
            <a:ext cx="356235" cy="190500"/>
          </a:xfrm>
          <a:prstGeom prst="round1Rect">
            <a:avLst>
              <a:gd name="adj" fmla="val 37073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500">
                <a:solidFill>
                  <a:schemeClr val="tx1"/>
                </a:solidFill>
              </a:rPr>
              <a:t>Word</a:t>
            </a:r>
            <a:endParaRPr lang="en-US" altLang="zh-CN" sz="500">
              <a:solidFill>
                <a:schemeClr val="tx1"/>
              </a:solidFill>
            </a:endParaRPr>
          </a:p>
        </p:txBody>
      </p:sp>
      <p:sp>
        <p:nvSpPr>
          <p:cNvPr id="44" name="单圆角矩形 43"/>
          <p:cNvSpPr/>
          <p:nvPr/>
        </p:nvSpPr>
        <p:spPr>
          <a:xfrm flipH="1">
            <a:off x="1731645" y="2741930"/>
            <a:ext cx="391795" cy="190500"/>
          </a:xfrm>
          <a:prstGeom prst="round1Rect">
            <a:avLst>
              <a:gd name="adj" fmla="val 37073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500">
                <a:solidFill>
                  <a:schemeClr val="tx1"/>
                </a:solidFill>
              </a:rPr>
              <a:t>Excel</a:t>
            </a:r>
            <a:endParaRPr lang="en-US" altLang="zh-CN" sz="500">
              <a:solidFill>
                <a:schemeClr val="tx1"/>
              </a:solidFill>
            </a:endParaRPr>
          </a:p>
        </p:txBody>
      </p:sp>
      <p:sp>
        <p:nvSpPr>
          <p:cNvPr id="45" name="单圆角矩形 44"/>
          <p:cNvSpPr/>
          <p:nvPr/>
        </p:nvSpPr>
        <p:spPr>
          <a:xfrm flipH="1">
            <a:off x="2123440" y="2741930"/>
            <a:ext cx="391795" cy="190500"/>
          </a:xfrm>
          <a:prstGeom prst="round1Rect">
            <a:avLst>
              <a:gd name="adj" fmla="val 37073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500">
                <a:solidFill>
                  <a:schemeClr val="tx1"/>
                </a:solidFill>
              </a:rPr>
              <a:t>PPT</a:t>
            </a:r>
            <a:endParaRPr lang="en-US" altLang="zh-CN" sz="500">
              <a:solidFill>
                <a:schemeClr val="tx1"/>
              </a:solidFill>
            </a:endParaRPr>
          </a:p>
        </p:txBody>
      </p:sp>
      <p:sp>
        <p:nvSpPr>
          <p:cNvPr id="46" name="单圆角矩形 45"/>
          <p:cNvSpPr/>
          <p:nvPr/>
        </p:nvSpPr>
        <p:spPr>
          <a:xfrm flipH="1">
            <a:off x="2515235" y="2741930"/>
            <a:ext cx="391795" cy="190500"/>
          </a:xfrm>
          <a:prstGeom prst="round1Rect">
            <a:avLst>
              <a:gd name="adj" fmla="val 37073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500">
                <a:solidFill>
                  <a:schemeClr val="tx1"/>
                </a:solidFill>
              </a:rPr>
              <a:t>PDF</a:t>
            </a:r>
            <a:endParaRPr lang="en-US" altLang="zh-CN" sz="500">
              <a:solidFill>
                <a:schemeClr val="tx1"/>
              </a:solidFill>
            </a:endParaRPr>
          </a:p>
        </p:txBody>
      </p:sp>
      <p:sp>
        <p:nvSpPr>
          <p:cNvPr id="47" name="单圆角矩形 46"/>
          <p:cNvSpPr/>
          <p:nvPr/>
        </p:nvSpPr>
        <p:spPr>
          <a:xfrm flipH="1">
            <a:off x="2907030" y="2741930"/>
            <a:ext cx="391795" cy="190500"/>
          </a:xfrm>
          <a:prstGeom prst="round1Rect">
            <a:avLst>
              <a:gd name="adj" fmla="val 37073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500">
                <a:solidFill>
                  <a:schemeClr val="tx1"/>
                </a:solidFill>
              </a:rPr>
              <a:t>图片</a:t>
            </a:r>
            <a:endParaRPr lang="zh-CN" altLang="en-US" sz="500">
              <a:solidFill>
                <a:schemeClr val="tx1"/>
              </a:solidFill>
            </a:endParaRPr>
          </a:p>
        </p:txBody>
      </p:sp>
      <p:sp>
        <p:nvSpPr>
          <p:cNvPr id="48" name="单圆角矩形 47"/>
          <p:cNvSpPr/>
          <p:nvPr/>
        </p:nvSpPr>
        <p:spPr>
          <a:xfrm flipH="1">
            <a:off x="3298825" y="2741930"/>
            <a:ext cx="391795" cy="190500"/>
          </a:xfrm>
          <a:prstGeom prst="round1Rect">
            <a:avLst>
              <a:gd name="adj" fmla="val 37073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500">
                <a:solidFill>
                  <a:schemeClr val="tx1"/>
                </a:solidFill>
              </a:rPr>
              <a:t>视频</a:t>
            </a:r>
            <a:endParaRPr lang="zh-CN" altLang="en-US" sz="500">
              <a:solidFill>
                <a:schemeClr val="tx1"/>
              </a:solidFill>
            </a:endParaRPr>
          </a:p>
        </p:txBody>
      </p:sp>
      <p:sp>
        <p:nvSpPr>
          <p:cNvPr id="49" name="单圆角矩形 48"/>
          <p:cNvSpPr/>
          <p:nvPr/>
        </p:nvSpPr>
        <p:spPr>
          <a:xfrm flipH="1">
            <a:off x="3690620" y="2741930"/>
            <a:ext cx="391795" cy="190500"/>
          </a:xfrm>
          <a:prstGeom prst="round1Rect">
            <a:avLst>
              <a:gd name="adj" fmla="val 37073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500">
                <a:solidFill>
                  <a:schemeClr val="tx1"/>
                </a:solidFill>
              </a:rPr>
              <a:t>音频</a:t>
            </a:r>
            <a:endParaRPr lang="zh-CN" altLang="en-US" sz="500">
              <a:solidFill>
                <a:schemeClr val="tx1"/>
              </a:solidFill>
            </a:endParaRPr>
          </a:p>
        </p:txBody>
      </p:sp>
      <p:sp>
        <p:nvSpPr>
          <p:cNvPr id="56" name="单圆角矩形 55"/>
          <p:cNvSpPr/>
          <p:nvPr/>
        </p:nvSpPr>
        <p:spPr>
          <a:xfrm flipH="1">
            <a:off x="4082415" y="2741930"/>
            <a:ext cx="447675" cy="190500"/>
          </a:xfrm>
          <a:prstGeom prst="round1Rect">
            <a:avLst>
              <a:gd name="adj" fmla="val 37073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500">
                <a:solidFill>
                  <a:schemeClr val="tx1"/>
                </a:solidFill>
              </a:rPr>
              <a:t>3D</a:t>
            </a:r>
            <a:r>
              <a:rPr lang="zh-CN" altLang="en-US" sz="500">
                <a:solidFill>
                  <a:schemeClr val="tx1"/>
                </a:solidFill>
              </a:rPr>
              <a:t>模型</a:t>
            </a:r>
            <a:endParaRPr lang="zh-CN" altLang="en-US" sz="500">
              <a:solidFill>
                <a:schemeClr val="tx1"/>
              </a:solidFill>
            </a:endParaRPr>
          </a:p>
        </p:txBody>
      </p:sp>
      <p:sp>
        <p:nvSpPr>
          <p:cNvPr id="57" name="单圆角矩形 56"/>
          <p:cNvSpPr/>
          <p:nvPr/>
        </p:nvSpPr>
        <p:spPr>
          <a:xfrm flipH="1">
            <a:off x="4530090" y="2741930"/>
            <a:ext cx="447675" cy="190500"/>
          </a:xfrm>
          <a:prstGeom prst="round1Rect">
            <a:avLst>
              <a:gd name="adj" fmla="val 37073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500">
                <a:solidFill>
                  <a:schemeClr val="tx1"/>
                </a:solidFill>
              </a:rPr>
              <a:t>其他</a:t>
            </a:r>
            <a:endParaRPr lang="zh-CN" altLang="en-US" sz="500">
              <a:solidFill>
                <a:schemeClr val="tx1"/>
              </a:solidFill>
            </a:endParaRPr>
          </a:p>
        </p:txBody>
      </p:sp>
      <p:grpSp>
        <p:nvGrpSpPr>
          <p:cNvPr id="60" name="组合 59"/>
          <p:cNvGrpSpPr/>
          <p:nvPr/>
        </p:nvGrpSpPr>
        <p:grpSpPr>
          <a:xfrm>
            <a:off x="9345930" y="1066982"/>
            <a:ext cx="65442" cy="1259843"/>
            <a:chOff x="14718" y="1637"/>
            <a:chExt cx="73" cy="1537"/>
          </a:xfrm>
        </p:grpSpPr>
        <p:sp>
          <p:nvSpPr>
            <p:cNvPr id="58" name="矩形 57"/>
            <p:cNvSpPr/>
            <p:nvPr/>
          </p:nvSpPr>
          <p:spPr>
            <a:xfrm>
              <a:off x="14719" y="1644"/>
              <a:ext cx="72" cy="84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59" name="直接连接符 58"/>
            <p:cNvCxnSpPr/>
            <p:nvPr/>
          </p:nvCxnSpPr>
          <p:spPr>
            <a:xfrm flipH="1">
              <a:off x="14718" y="1637"/>
              <a:ext cx="8" cy="1537"/>
            </a:xfrm>
            <a:prstGeom prst="line">
              <a:avLst/>
            </a:prstGeom>
            <a:ln w="254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62" name="矩形 61"/>
          <p:cNvSpPr/>
          <p:nvPr/>
        </p:nvSpPr>
        <p:spPr>
          <a:xfrm>
            <a:off x="9468485" y="3141980"/>
            <a:ext cx="76200" cy="171831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5" name="图片 6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855" y="6263640"/>
            <a:ext cx="1092200" cy="194310"/>
          </a:xfrm>
          <a:prstGeom prst="rect">
            <a:avLst/>
          </a:prstGeom>
        </p:spPr>
      </p:pic>
      <p:grpSp>
        <p:nvGrpSpPr>
          <p:cNvPr id="50" name="组合 49"/>
          <p:cNvGrpSpPr/>
          <p:nvPr/>
        </p:nvGrpSpPr>
        <p:grpSpPr>
          <a:xfrm>
            <a:off x="1009650" y="2955290"/>
            <a:ext cx="8535035" cy="224155"/>
            <a:chOff x="1590" y="5012"/>
            <a:chExt cx="13408" cy="353"/>
          </a:xfrm>
        </p:grpSpPr>
        <p:sp>
          <p:nvSpPr>
            <p:cNvPr id="2" name="矩形 1"/>
            <p:cNvSpPr/>
            <p:nvPr/>
          </p:nvSpPr>
          <p:spPr>
            <a:xfrm>
              <a:off x="1590" y="5012"/>
              <a:ext cx="13408" cy="353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1605" y="5034"/>
              <a:ext cx="12777" cy="289"/>
              <a:chOff x="1605" y="5034"/>
              <a:chExt cx="12777" cy="289"/>
            </a:xfrm>
          </p:grpSpPr>
          <p:sp>
            <p:nvSpPr>
              <p:cNvPr id="3" name="文本框 2"/>
              <p:cNvSpPr txBox="1"/>
              <p:nvPr/>
            </p:nvSpPr>
            <p:spPr>
              <a:xfrm>
                <a:off x="1605" y="5034"/>
                <a:ext cx="562" cy="2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600" b="1">
                    <a:latin typeface="微软雅黑" panose="020B0503020204020204" charset="-122"/>
                    <a:ea typeface="微软雅黑" panose="020B0503020204020204" charset="-122"/>
                  </a:rPr>
                  <a:t>编号</a:t>
                </a:r>
                <a:endParaRPr lang="zh-CN" altLang="en-US" sz="6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2117" y="5034"/>
                <a:ext cx="864" cy="2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600" b="1">
                    <a:latin typeface="微软雅黑" panose="020B0503020204020204" charset="-122"/>
                    <a:ea typeface="微软雅黑" panose="020B0503020204020204" charset="-122"/>
                  </a:rPr>
                  <a:t>文件名</a:t>
                </a:r>
                <a:endParaRPr lang="en-US" altLang="zh-CN" sz="6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4124" y="5034"/>
                <a:ext cx="864" cy="2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600" b="1">
                    <a:latin typeface="微软雅黑" panose="020B0503020204020204" charset="-122"/>
                    <a:ea typeface="微软雅黑" panose="020B0503020204020204" charset="-122"/>
                  </a:rPr>
                  <a:t>类型</a:t>
                </a:r>
                <a:endParaRPr lang="zh-CN" altLang="en-US" sz="6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4833" y="5034"/>
                <a:ext cx="864" cy="2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600" b="1">
                    <a:latin typeface="微软雅黑" panose="020B0503020204020204" charset="-122"/>
                    <a:ea typeface="微软雅黑" panose="020B0503020204020204" charset="-122"/>
                  </a:rPr>
                  <a:t>描述</a:t>
                </a:r>
                <a:endParaRPr lang="zh-CN" altLang="en-US" sz="6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8368" y="5034"/>
                <a:ext cx="864" cy="2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600" b="1">
                    <a:latin typeface="微软雅黑" panose="020B0503020204020204" charset="-122"/>
                    <a:ea typeface="微软雅黑" panose="020B0503020204020204" charset="-122"/>
                  </a:rPr>
                  <a:t>上传人</a:t>
                </a:r>
                <a:endParaRPr lang="zh-CN" altLang="en-US" sz="6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8986" y="5034"/>
                <a:ext cx="864" cy="2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600" b="1">
                    <a:latin typeface="微软雅黑" panose="020B0503020204020204" charset="-122"/>
                    <a:ea typeface="微软雅黑" panose="020B0503020204020204" charset="-122"/>
                  </a:rPr>
                  <a:t>部门</a:t>
                </a:r>
                <a:endParaRPr lang="zh-CN" altLang="en-US" sz="6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9526" y="5034"/>
                <a:ext cx="864" cy="2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600" b="1">
                    <a:latin typeface="微软雅黑" panose="020B0503020204020204" charset="-122"/>
                    <a:ea typeface="微软雅黑" panose="020B0503020204020204" charset="-122"/>
                  </a:rPr>
                  <a:t>文件大小</a:t>
                </a:r>
                <a:endParaRPr lang="zh-CN" altLang="en-US" sz="6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10390" y="5034"/>
                <a:ext cx="864" cy="2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600" b="1">
                    <a:latin typeface="微软雅黑" panose="020B0503020204020204" charset="-122"/>
                    <a:ea typeface="微软雅黑" panose="020B0503020204020204" charset="-122"/>
                  </a:rPr>
                  <a:t>上传时间</a:t>
                </a:r>
                <a:endParaRPr lang="zh-CN" altLang="en-US" sz="6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11596" y="5034"/>
                <a:ext cx="864" cy="2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600" b="1">
                    <a:latin typeface="微软雅黑" panose="020B0503020204020204" charset="-122"/>
                    <a:ea typeface="微软雅黑" panose="020B0503020204020204" charset="-122"/>
                  </a:rPr>
                  <a:t>缩略图</a:t>
                </a:r>
                <a:endParaRPr lang="zh-CN" altLang="en-US" sz="6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13518" y="5034"/>
                <a:ext cx="864" cy="2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600" b="1">
                    <a:latin typeface="微软雅黑" panose="020B0503020204020204" charset="-122"/>
                    <a:ea typeface="微软雅黑" panose="020B0503020204020204" charset="-122"/>
                  </a:rPr>
                  <a:t>操作</a:t>
                </a:r>
                <a:endParaRPr lang="zh-CN" altLang="en-US" sz="6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55" name="组合 54"/>
          <p:cNvGrpSpPr/>
          <p:nvPr/>
        </p:nvGrpSpPr>
        <p:grpSpPr>
          <a:xfrm>
            <a:off x="8116570" y="3234055"/>
            <a:ext cx="469900" cy="167640"/>
            <a:chOff x="12872" y="5085"/>
            <a:chExt cx="740" cy="264"/>
          </a:xfrm>
        </p:grpSpPr>
        <p:sp>
          <p:nvSpPr>
            <p:cNvPr id="52" name="圆角矩形 51"/>
            <p:cNvSpPr/>
            <p:nvPr/>
          </p:nvSpPr>
          <p:spPr>
            <a:xfrm>
              <a:off x="12897" y="5093"/>
              <a:ext cx="632" cy="248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12872" y="5085"/>
              <a:ext cx="741" cy="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5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复制</a:t>
              </a:r>
              <a:r>
                <a:rPr lang="en-US" altLang="zh-CN" sz="5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URL</a:t>
              </a:r>
              <a:endParaRPr lang="en-US" altLang="zh-CN" sz="5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8534400" y="3234055"/>
            <a:ext cx="319405" cy="168275"/>
            <a:chOff x="13072" y="5285"/>
            <a:chExt cx="598" cy="265"/>
          </a:xfrm>
        </p:grpSpPr>
        <p:sp>
          <p:nvSpPr>
            <p:cNvPr id="63" name="圆角矩形 62"/>
            <p:cNvSpPr/>
            <p:nvPr/>
          </p:nvSpPr>
          <p:spPr>
            <a:xfrm>
              <a:off x="13097" y="5293"/>
              <a:ext cx="518" cy="248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13072" y="5285"/>
              <a:ext cx="598" cy="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5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下载</a:t>
              </a:r>
              <a:endParaRPr lang="zh-CN" altLang="en-US" sz="5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8824595" y="3234055"/>
            <a:ext cx="319405" cy="168275"/>
            <a:chOff x="13072" y="5285"/>
            <a:chExt cx="598" cy="265"/>
          </a:xfrm>
        </p:grpSpPr>
        <p:sp>
          <p:nvSpPr>
            <p:cNvPr id="68" name="圆角矩形 67"/>
            <p:cNvSpPr/>
            <p:nvPr/>
          </p:nvSpPr>
          <p:spPr>
            <a:xfrm>
              <a:off x="13097" y="5293"/>
              <a:ext cx="518" cy="248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13072" y="5285"/>
              <a:ext cx="598" cy="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5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修改</a:t>
              </a:r>
              <a:endParaRPr lang="zh-CN" altLang="en-US" sz="5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9114790" y="3234055"/>
            <a:ext cx="319405" cy="168275"/>
            <a:chOff x="13072" y="5285"/>
            <a:chExt cx="598" cy="265"/>
          </a:xfrm>
        </p:grpSpPr>
        <p:sp>
          <p:nvSpPr>
            <p:cNvPr id="71" name="圆角矩形 70"/>
            <p:cNvSpPr/>
            <p:nvPr/>
          </p:nvSpPr>
          <p:spPr>
            <a:xfrm>
              <a:off x="13097" y="5293"/>
              <a:ext cx="518" cy="248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13072" y="5285"/>
              <a:ext cx="598" cy="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5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删除</a:t>
              </a:r>
              <a:endParaRPr lang="zh-CN" altLang="en-US" sz="5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73" name="组合 72"/>
          <p:cNvGrpSpPr/>
          <p:nvPr/>
        </p:nvGrpSpPr>
        <p:grpSpPr>
          <a:xfrm>
            <a:off x="4979035" y="2494915"/>
            <a:ext cx="4244975" cy="187325"/>
            <a:chOff x="1656" y="3277"/>
            <a:chExt cx="7702" cy="368"/>
          </a:xfrm>
        </p:grpSpPr>
        <p:sp>
          <p:nvSpPr>
            <p:cNvPr id="74" name="圆角矩形 73"/>
            <p:cNvSpPr/>
            <p:nvPr/>
          </p:nvSpPr>
          <p:spPr>
            <a:xfrm>
              <a:off x="2046" y="3277"/>
              <a:ext cx="7312" cy="36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500"/>
            </a:p>
          </p:txBody>
        </p:sp>
        <p:grpSp>
          <p:nvGrpSpPr>
            <p:cNvPr id="75" name="组合 74"/>
            <p:cNvGrpSpPr/>
            <p:nvPr/>
          </p:nvGrpSpPr>
          <p:grpSpPr>
            <a:xfrm rot="0">
              <a:off x="1656" y="3277"/>
              <a:ext cx="336" cy="367"/>
              <a:chOff x="1137" y="3354"/>
              <a:chExt cx="752" cy="806"/>
            </a:xfrm>
          </p:grpSpPr>
          <p:sp>
            <p:nvSpPr>
              <p:cNvPr id="76" name="圆角矩形 75"/>
              <p:cNvSpPr/>
              <p:nvPr/>
            </p:nvSpPr>
            <p:spPr>
              <a:xfrm>
                <a:off x="1137" y="3354"/>
                <a:ext cx="752" cy="807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500"/>
              </a:p>
            </p:txBody>
          </p:sp>
          <p:grpSp>
            <p:nvGrpSpPr>
              <p:cNvPr id="77" name="组合 76"/>
              <p:cNvGrpSpPr/>
              <p:nvPr/>
            </p:nvGrpSpPr>
            <p:grpSpPr>
              <a:xfrm>
                <a:off x="1292" y="3486"/>
                <a:ext cx="486" cy="593"/>
                <a:chOff x="1292" y="3486"/>
                <a:chExt cx="574" cy="757"/>
              </a:xfrm>
            </p:grpSpPr>
            <p:sp>
              <p:nvSpPr>
                <p:cNvPr id="78" name="椭圆 77"/>
                <p:cNvSpPr/>
                <p:nvPr/>
              </p:nvSpPr>
              <p:spPr>
                <a:xfrm>
                  <a:off x="1314" y="3486"/>
                  <a:ext cx="552" cy="542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50000"/>
                    </a:schemeClr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500"/>
                </a:p>
              </p:txBody>
            </p:sp>
            <p:sp>
              <p:nvSpPr>
                <p:cNvPr id="79" name="矩形 78"/>
                <p:cNvSpPr/>
                <p:nvPr/>
              </p:nvSpPr>
              <p:spPr>
                <a:xfrm rot="2160000">
                  <a:off x="1292" y="3945"/>
                  <a:ext cx="155" cy="298"/>
                </a:xfrm>
                <a:prstGeom prst="rect">
                  <a:avLst/>
                </a:prstGeom>
                <a:noFill/>
                <a:ln>
                  <a:solidFill>
                    <a:schemeClr val="bg1">
                      <a:lumMod val="50000"/>
                    </a:schemeClr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500"/>
                </a:p>
              </p:txBody>
            </p:sp>
          </p:grpSp>
        </p:grpSp>
        <p:sp>
          <p:nvSpPr>
            <p:cNvPr id="80" name="文本框 79"/>
            <p:cNvSpPr txBox="1"/>
            <p:nvPr/>
          </p:nvSpPr>
          <p:spPr>
            <a:xfrm>
              <a:off x="2147" y="3346"/>
              <a:ext cx="1688" cy="236"/>
            </a:xfrm>
            <a:prstGeom prst="rect">
              <a:avLst/>
            </a:prstGeom>
            <a:noFill/>
            <a:ln w="6350">
              <a:solidFill>
                <a:schemeClr val="bg1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>
                      <a:lumMod val="75000"/>
                    </a:schemeClr>
                  </a:solidFill>
                </a14:hiddenFill>
              </a:ext>
            </a:extLst>
          </p:spPr>
          <p:txBody>
            <a:bodyPr wrap="square" rtlCol="0">
              <a:noAutofit/>
            </a:bodyPr>
            <a:p>
              <a:r>
                <a:rPr lang="zh-CN" altLang="en-US" sz="500" i="1">
                  <a:solidFill>
                    <a:schemeClr val="bg1">
                      <a:lumMod val="75000"/>
                    </a:schemeClr>
                  </a:solidFill>
                </a:rPr>
                <a:t>文件名、描述</a:t>
              </a:r>
              <a:r>
                <a:rPr lang="en-US" altLang="zh-CN" sz="500" i="1">
                  <a:solidFill>
                    <a:schemeClr val="bg1">
                      <a:lumMod val="75000"/>
                    </a:schemeClr>
                  </a:solidFill>
                </a:rPr>
                <a:t>......</a:t>
              </a:r>
              <a:r>
                <a:rPr lang="zh-CN" altLang="en-US" sz="500" i="1">
                  <a:solidFill>
                    <a:schemeClr val="bg1">
                      <a:lumMod val="75000"/>
                    </a:schemeClr>
                  </a:solidFill>
                </a:rPr>
                <a:t>模糊搜索</a:t>
              </a:r>
              <a:endParaRPr lang="zh-CN" altLang="en-US" sz="500" i="1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3951" y="3337"/>
              <a:ext cx="921" cy="236"/>
            </a:xfrm>
            <a:prstGeom prst="rect">
              <a:avLst/>
            </a:prstGeom>
            <a:noFill/>
            <a:ln w="6350">
              <a:solidFill>
                <a:schemeClr val="bg1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>
                      <a:lumMod val="75000"/>
                    </a:schemeClr>
                  </a:solidFill>
                </a14:hiddenFill>
              </a:ext>
            </a:extLst>
          </p:spPr>
          <p:txBody>
            <a:bodyPr wrap="square" rtlCol="0">
              <a:noAutofit/>
            </a:bodyPr>
            <a:p>
              <a:r>
                <a:rPr lang="zh-CN" altLang="en-US" sz="500" i="1">
                  <a:solidFill>
                    <a:schemeClr val="bg1">
                      <a:lumMod val="75000"/>
                    </a:schemeClr>
                  </a:solidFill>
                </a:rPr>
                <a:t>上传人</a:t>
              </a:r>
              <a:endParaRPr lang="zh-CN" altLang="en-US" sz="500" i="1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82" name="文本框 81"/>
            <p:cNvSpPr txBox="1"/>
            <p:nvPr/>
          </p:nvSpPr>
          <p:spPr>
            <a:xfrm>
              <a:off x="4988" y="3336"/>
              <a:ext cx="837" cy="236"/>
            </a:xfrm>
            <a:prstGeom prst="rect">
              <a:avLst/>
            </a:prstGeom>
            <a:noFill/>
            <a:ln w="6350">
              <a:solidFill>
                <a:schemeClr val="bg1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>
                      <a:lumMod val="75000"/>
                    </a:schemeClr>
                  </a:solidFill>
                </a14:hiddenFill>
              </a:ext>
            </a:extLst>
          </p:spPr>
          <p:txBody>
            <a:bodyPr wrap="square" rtlCol="0">
              <a:noAutofit/>
            </a:bodyPr>
            <a:p>
              <a:r>
                <a:rPr lang="zh-CN" altLang="en-US" sz="500" i="1">
                  <a:solidFill>
                    <a:schemeClr val="bg1">
                      <a:lumMod val="75000"/>
                    </a:schemeClr>
                  </a:solidFill>
                </a:rPr>
                <a:t>部门</a:t>
              </a:r>
              <a:endParaRPr lang="zh-CN" altLang="en-US" sz="500" i="1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grpSp>
          <p:nvGrpSpPr>
            <p:cNvPr id="83" name="组合 82"/>
            <p:cNvGrpSpPr/>
            <p:nvPr/>
          </p:nvGrpSpPr>
          <p:grpSpPr>
            <a:xfrm rot="0">
              <a:off x="6411" y="3336"/>
              <a:ext cx="2785" cy="235"/>
              <a:chOff x="10310" y="3522"/>
              <a:chExt cx="2938" cy="288"/>
            </a:xfrm>
          </p:grpSpPr>
          <p:sp>
            <p:nvSpPr>
              <p:cNvPr id="84" name="文本框 83"/>
              <p:cNvSpPr txBox="1"/>
              <p:nvPr/>
            </p:nvSpPr>
            <p:spPr>
              <a:xfrm>
                <a:off x="10310" y="3522"/>
                <a:ext cx="1246" cy="288"/>
              </a:xfrm>
              <a:prstGeom prst="rect">
                <a:avLst/>
              </a:prstGeom>
              <a:noFill/>
              <a:ln w="6350">
                <a:solidFill>
                  <a:schemeClr val="bg1">
                    <a:lumMod val="75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>
                        <a:lumMod val="75000"/>
                      </a:schemeClr>
                    </a:solidFill>
                  </a14:hiddenFill>
                </a:ext>
              </a:extLst>
            </p:spPr>
            <p:txBody>
              <a:bodyPr wrap="square" rtlCol="0">
                <a:noAutofit/>
              </a:bodyPr>
              <a:p>
                <a:r>
                  <a:rPr lang="zh-CN" altLang="en-US" sz="500" i="1">
                    <a:solidFill>
                      <a:schemeClr val="bg1">
                        <a:lumMod val="75000"/>
                      </a:schemeClr>
                    </a:solidFill>
                  </a:rPr>
                  <a:t>起始时间</a:t>
                </a:r>
                <a:endParaRPr lang="zh-CN" altLang="en-US" sz="500" i="1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85" name="文本框 84"/>
              <p:cNvSpPr txBox="1"/>
              <p:nvPr/>
            </p:nvSpPr>
            <p:spPr>
              <a:xfrm>
                <a:off x="11959" y="3522"/>
                <a:ext cx="1289" cy="248"/>
              </a:xfrm>
              <a:prstGeom prst="rect">
                <a:avLst/>
              </a:prstGeom>
              <a:noFill/>
              <a:ln w="6350">
                <a:solidFill>
                  <a:schemeClr val="bg1">
                    <a:lumMod val="75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>
                        <a:lumMod val="75000"/>
                      </a:schemeClr>
                    </a:solidFill>
                  </a14:hiddenFill>
                </a:ext>
              </a:extLst>
            </p:spPr>
            <p:txBody>
              <a:bodyPr wrap="square" rtlCol="0">
                <a:noAutofit/>
              </a:bodyPr>
              <a:p>
                <a:r>
                  <a:rPr lang="zh-CN" altLang="en-US" sz="500" i="1">
                    <a:solidFill>
                      <a:schemeClr val="bg1">
                        <a:lumMod val="75000"/>
                      </a:schemeClr>
                    </a:solidFill>
                  </a:rPr>
                  <a:t>结束时间</a:t>
                </a:r>
                <a:endParaRPr lang="zh-CN" altLang="en-US" sz="500" i="1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  <p:cxnSp>
            <p:nvCxnSpPr>
              <p:cNvPr id="86" name="直接连接符 85"/>
              <p:cNvCxnSpPr/>
              <p:nvPr/>
            </p:nvCxnSpPr>
            <p:spPr>
              <a:xfrm flipV="1">
                <a:off x="11634" y="3669"/>
                <a:ext cx="227" cy="4"/>
              </a:xfrm>
              <a:prstGeom prst="line">
                <a:avLst/>
              </a:prstGeom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87" name="直接连接符 86"/>
          <p:cNvCxnSpPr/>
          <p:nvPr/>
        </p:nvCxnSpPr>
        <p:spPr>
          <a:xfrm>
            <a:off x="929005" y="2720340"/>
            <a:ext cx="868045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>
            <a:off x="946785" y="896620"/>
            <a:ext cx="866902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9" name="文本框 88"/>
          <p:cNvSpPr txBox="1"/>
          <p:nvPr/>
        </p:nvSpPr>
        <p:spPr>
          <a:xfrm>
            <a:off x="5882005" y="6293485"/>
            <a:ext cx="581025" cy="1682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p>
            <a:r>
              <a:rPr lang="zh-CN" altLang="en-US" sz="500"/>
              <a:t>分页：</a:t>
            </a:r>
            <a:endParaRPr lang="zh-CN" altLang="en-US" sz="500"/>
          </a:p>
        </p:txBody>
      </p:sp>
      <p:sp>
        <p:nvSpPr>
          <p:cNvPr id="90" name="矩形 89"/>
          <p:cNvSpPr/>
          <p:nvPr/>
        </p:nvSpPr>
        <p:spPr>
          <a:xfrm>
            <a:off x="6169025" y="6143625"/>
            <a:ext cx="146050" cy="28702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1" name="文本框 90"/>
          <p:cNvSpPr txBox="1"/>
          <p:nvPr/>
        </p:nvSpPr>
        <p:spPr>
          <a:xfrm>
            <a:off x="6102350" y="6142990"/>
            <a:ext cx="295275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500"/>
              <a:t>100</a:t>
            </a:r>
            <a:endParaRPr lang="en-US" altLang="zh-CN" sz="500"/>
          </a:p>
          <a:p>
            <a:r>
              <a:rPr lang="en-US" altLang="zh-CN" sz="500"/>
              <a:t>50</a:t>
            </a:r>
            <a:endParaRPr lang="en-US" altLang="zh-CN" sz="500"/>
          </a:p>
          <a:p>
            <a:r>
              <a:rPr lang="en-US" altLang="zh-CN" sz="500"/>
              <a:t>20</a:t>
            </a:r>
            <a:endParaRPr lang="en-US" altLang="zh-CN" sz="500"/>
          </a:p>
        </p:txBody>
      </p:sp>
      <p:sp>
        <p:nvSpPr>
          <p:cNvPr id="9" name="文本框 8"/>
          <p:cNvSpPr txBox="1"/>
          <p:nvPr/>
        </p:nvSpPr>
        <p:spPr>
          <a:xfrm>
            <a:off x="4371340" y="1543050"/>
            <a:ext cx="558165" cy="119888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p>
            <a:r>
              <a:rPr lang="en-US" altLang="zh-CN" sz="800"/>
              <a:t>Word</a:t>
            </a:r>
            <a:endParaRPr lang="en-US" altLang="zh-CN" sz="800"/>
          </a:p>
          <a:p>
            <a:r>
              <a:rPr lang="en-US" altLang="zh-CN" sz="800"/>
              <a:t>Excel</a:t>
            </a:r>
            <a:endParaRPr lang="en-US" altLang="zh-CN" sz="800"/>
          </a:p>
          <a:p>
            <a:r>
              <a:rPr lang="en-US" altLang="zh-CN" sz="800"/>
              <a:t>PPT</a:t>
            </a:r>
            <a:endParaRPr lang="en-US" altLang="zh-CN" sz="800"/>
          </a:p>
          <a:p>
            <a:r>
              <a:rPr lang="en-US" altLang="zh-CN" sz="800"/>
              <a:t>PDF</a:t>
            </a:r>
            <a:endParaRPr lang="en-US" altLang="zh-CN" sz="800"/>
          </a:p>
          <a:p>
            <a:r>
              <a:rPr lang="zh-CN" altLang="en-US" sz="800"/>
              <a:t>图片</a:t>
            </a:r>
            <a:endParaRPr lang="zh-CN" altLang="en-US" sz="800"/>
          </a:p>
          <a:p>
            <a:r>
              <a:rPr lang="zh-CN" altLang="en-US" sz="800"/>
              <a:t>视频</a:t>
            </a:r>
            <a:endParaRPr lang="en-US" altLang="zh-CN" sz="800"/>
          </a:p>
          <a:p>
            <a:r>
              <a:rPr lang="zh-CN" altLang="en-US" sz="800"/>
              <a:t>音频</a:t>
            </a:r>
            <a:endParaRPr lang="zh-CN" altLang="en-US" sz="800"/>
          </a:p>
          <a:p>
            <a:r>
              <a:rPr lang="en-US" altLang="zh-CN" sz="800"/>
              <a:t>3D</a:t>
            </a:r>
            <a:r>
              <a:rPr lang="zh-CN" altLang="en-US" sz="800"/>
              <a:t>模型</a:t>
            </a:r>
            <a:endParaRPr lang="zh-CN" altLang="en-US" sz="800"/>
          </a:p>
          <a:p>
            <a:r>
              <a:rPr lang="zh-CN" altLang="en-US" sz="800"/>
              <a:t>其他</a:t>
            </a:r>
            <a:endParaRPr lang="zh-CN" altLang="en-US" sz="800"/>
          </a:p>
        </p:txBody>
      </p:sp>
      <p:sp>
        <p:nvSpPr>
          <p:cNvPr id="92" name="圆角矩形 91"/>
          <p:cNvSpPr/>
          <p:nvPr/>
        </p:nvSpPr>
        <p:spPr>
          <a:xfrm>
            <a:off x="8231505" y="678815"/>
            <a:ext cx="658495" cy="16446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600"/>
              <a:t>提交上传</a:t>
            </a:r>
            <a:endParaRPr lang="zh-CN" altLang="en-US" sz="600"/>
          </a:p>
        </p:txBody>
      </p:sp>
      <p:sp>
        <p:nvSpPr>
          <p:cNvPr id="13" name="文本框 12"/>
          <p:cNvSpPr txBox="1"/>
          <p:nvPr/>
        </p:nvSpPr>
        <p:spPr>
          <a:xfrm>
            <a:off x="8520430" y="6289675"/>
            <a:ext cx="581025" cy="1682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p>
            <a:r>
              <a:rPr lang="zh-CN" altLang="en-US" sz="500"/>
              <a:t>记录</a:t>
            </a:r>
            <a:r>
              <a:rPr lang="zh-CN" altLang="en-US" sz="500"/>
              <a:t>总数：</a:t>
            </a:r>
            <a:endParaRPr lang="zh-CN" altLang="en-US" sz="500"/>
          </a:p>
        </p:txBody>
      </p:sp>
      <p:sp>
        <p:nvSpPr>
          <p:cNvPr id="26" name="文本框 25"/>
          <p:cNvSpPr txBox="1"/>
          <p:nvPr/>
        </p:nvSpPr>
        <p:spPr>
          <a:xfrm>
            <a:off x="8751570" y="1105535"/>
            <a:ext cx="43180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/>
              <a:t>操作</a:t>
            </a:r>
            <a:endParaRPr lang="zh-CN" altLang="en-US" sz="800"/>
          </a:p>
        </p:txBody>
      </p:sp>
      <p:grpSp>
        <p:nvGrpSpPr>
          <p:cNvPr id="51" name="组合 50"/>
          <p:cNvGrpSpPr/>
          <p:nvPr/>
        </p:nvGrpSpPr>
        <p:grpSpPr>
          <a:xfrm>
            <a:off x="8802053" y="1313815"/>
            <a:ext cx="319405" cy="168275"/>
            <a:chOff x="13072" y="5285"/>
            <a:chExt cx="598" cy="265"/>
          </a:xfrm>
        </p:grpSpPr>
        <p:sp>
          <p:nvSpPr>
            <p:cNvPr id="54" name="圆角矩形 53"/>
            <p:cNvSpPr/>
            <p:nvPr/>
          </p:nvSpPr>
          <p:spPr>
            <a:xfrm>
              <a:off x="13097" y="5293"/>
              <a:ext cx="518" cy="248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13072" y="5285"/>
              <a:ext cx="598" cy="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5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删除</a:t>
              </a:r>
              <a:endParaRPr lang="zh-CN" altLang="en-US" sz="5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93" name="组合 92"/>
          <p:cNvGrpSpPr/>
          <p:nvPr/>
        </p:nvGrpSpPr>
        <p:grpSpPr>
          <a:xfrm>
            <a:off x="8802053" y="1543050"/>
            <a:ext cx="319405" cy="168275"/>
            <a:chOff x="13072" y="5285"/>
            <a:chExt cx="598" cy="265"/>
          </a:xfrm>
        </p:grpSpPr>
        <p:sp>
          <p:nvSpPr>
            <p:cNvPr id="94" name="圆角矩形 93"/>
            <p:cNvSpPr/>
            <p:nvPr/>
          </p:nvSpPr>
          <p:spPr>
            <a:xfrm>
              <a:off x="13097" y="5293"/>
              <a:ext cx="518" cy="248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5" name="文本框 94"/>
            <p:cNvSpPr txBox="1"/>
            <p:nvPr/>
          </p:nvSpPr>
          <p:spPr>
            <a:xfrm>
              <a:off x="13072" y="5285"/>
              <a:ext cx="598" cy="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5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删除</a:t>
              </a:r>
              <a:endParaRPr lang="zh-CN" altLang="en-US" sz="5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96" name="组合 95"/>
          <p:cNvGrpSpPr/>
          <p:nvPr/>
        </p:nvGrpSpPr>
        <p:grpSpPr>
          <a:xfrm>
            <a:off x="9224963" y="2494915"/>
            <a:ext cx="319405" cy="168275"/>
            <a:chOff x="13072" y="5285"/>
            <a:chExt cx="598" cy="265"/>
          </a:xfrm>
        </p:grpSpPr>
        <p:sp>
          <p:nvSpPr>
            <p:cNvPr id="97" name="圆角矩形 96"/>
            <p:cNvSpPr/>
            <p:nvPr/>
          </p:nvSpPr>
          <p:spPr>
            <a:xfrm>
              <a:off x="13097" y="5293"/>
              <a:ext cx="518" cy="248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8" name="文本框 97"/>
            <p:cNvSpPr txBox="1"/>
            <p:nvPr/>
          </p:nvSpPr>
          <p:spPr>
            <a:xfrm>
              <a:off x="13072" y="5285"/>
              <a:ext cx="598" cy="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5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重置</a:t>
              </a:r>
              <a:endParaRPr lang="zh-CN" altLang="en-US" sz="5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3135630" y="866775"/>
            <a:ext cx="8289290" cy="5334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600"/>
          </a:p>
        </p:txBody>
      </p:sp>
      <p:grpSp>
        <p:nvGrpSpPr>
          <p:cNvPr id="9" name="组合 8"/>
          <p:cNvGrpSpPr/>
          <p:nvPr/>
        </p:nvGrpSpPr>
        <p:grpSpPr>
          <a:xfrm rot="0">
            <a:off x="2617470" y="866775"/>
            <a:ext cx="457200" cy="532130"/>
            <a:chOff x="1137" y="3354"/>
            <a:chExt cx="752" cy="806"/>
          </a:xfrm>
        </p:grpSpPr>
        <p:sp>
          <p:nvSpPr>
            <p:cNvPr id="8" name="圆角矩形 7"/>
            <p:cNvSpPr/>
            <p:nvPr/>
          </p:nvSpPr>
          <p:spPr>
            <a:xfrm>
              <a:off x="1137" y="3354"/>
              <a:ext cx="752" cy="807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600"/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1292" y="3486"/>
              <a:ext cx="486" cy="593"/>
              <a:chOff x="1292" y="3486"/>
              <a:chExt cx="574" cy="757"/>
            </a:xfrm>
          </p:grpSpPr>
          <p:sp>
            <p:nvSpPr>
              <p:cNvPr id="5" name="椭圆 4"/>
              <p:cNvSpPr/>
              <p:nvPr/>
            </p:nvSpPr>
            <p:spPr>
              <a:xfrm>
                <a:off x="1314" y="3486"/>
                <a:ext cx="552" cy="54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600"/>
              </a:p>
            </p:txBody>
          </p:sp>
          <p:sp>
            <p:nvSpPr>
              <p:cNvPr id="6" name="矩形 5"/>
              <p:cNvSpPr/>
              <p:nvPr/>
            </p:nvSpPr>
            <p:spPr>
              <a:xfrm rot="2160000">
                <a:off x="1292" y="3945"/>
                <a:ext cx="155" cy="298"/>
              </a:xfrm>
              <a:prstGeom prst="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600"/>
              </a:p>
            </p:txBody>
          </p:sp>
        </p:grpSp>
      </p:grpSp>
      <p:sp>
        <p:nvSpPr>
          <p:cNvPr id="10" name="文本框 9"/>
          <p:cNvSpPr txBox="1"/>
          <p:nvPr/>
        </p:nvSpPr>
        <p:spPr>
          <a:xfrm>
            <a:off x="3250565" y="952500"/>
            <a:ext cx="1913890" cy="34226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75000"/>
                  </a:schemeClr>
                </a:solidFill>
              </a14:hiddenFill>
            </a:ext>
          </a:extLst>
        </p:spPr>
        <p:txBody>
          <a:bodyPr wrap="square" rtlCol="0">
            <a:noAutofit/>
          </a:bodyPr>
          <a:p>
            <a:r>
              <a:rPr lang="zh-CN" altLang="en-US" sz="1000" i="1">
                <a:solidFill>
                  <a:schemeClr val="bg1">
                    <a:lumMod val="75000"/>
                  </a:schemeClr>
                </a:solidFill>
              </a:rPr>
              <a:t>文件名、描述</a:t>
            </a:r>
            <a:r>
              <a:rPr lang="en-US" altLang="zh-CN" sz="1000" i="1">
                <a:solidFill>
                  <a:schemeClr val="bg1">
                    <a:lumMod val="75000"/>
                  </a:schemeClr>
                </a:solidFill>
              </a:rPr>
              <a:t>......</a:t>
            </a:r>
            <a:r>
              <a:rPr lang="zh-CN" altLang="en-US" sz="1000" i="1">
                <a:solidFill>
                  <a:schemeClr val="bg1">
                    <a:lumMod val="75000"/>
                  </a:schemeClr>
                </a:solidFill>
              </a:rPr>
              <a:t>模糊搜索</a:t>
            </a:r>
            <a:endParaRPr lang="zh-CN" altLang="en-US" sz="1000" i="1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295265" y="953770"/>
            <a:ext cx="1043940" cy="34226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75000"/>
                  </a:schemeClr>
                </a:solidFill>
              </a14:hiddenFill>
            </a:ext>
          </a:extLst>
        </p:spPr>
        <p:txBody>
          <a:bodyPr wrap="square" rtlCol="0">
            <a:noAutofit/>
          </a:bodyPr>
          <a:p>
            <a:r>
              <a:rPr lang="zh-CN" altLang="en-US" sz="1000" i="1">
                <a:solidFill>
                  <a:schemeClr val="bg1">
                    <a:lumMod val="75000"/>
                  </a:schemeClr>
                </a:solidFill>
              </a:rPr>
              <a:t>上传人</a:t>
            </a:r>
            <a:endParaRPr lang="zh-CN" altLang="en-US" sz="1000" i="1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470650" y="952500"/>
            <a:ext cx="948690" cy="34226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75000"/>
                  </a:schemeClr>
                </a:solidFill>
              </a14:hiddenFill>
            </a:ext>
          </a:extLst>
        </p:spPr>
        <p:txBody>
          <a:bodyPr wrap="square" rtlCol="0">
            <a:noAutofit/>
          </a:bodyPr>
          <a:p>
            <a:r>
              <a:rPr lang="zh-CN" altLang="en-US" sz="1000" i="1">
                <a:solidFill>
                  <a:schemeClr val="bg1">
                    <a:lumMod val="75000"/>
                  </a:schemeClr>
                </a:solidFill>
              </a:rPr>
              <a:t>部门</a:t>
            </a:r>
            <a:endParaRPr lang="zh-CN" altLang="en-US" sz="1000" i="1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17" name="组合 16"/>
          <p:cNvGrpSpPr/>
          <p:nvPr/>
        </p:nvGrpSpPr>
        <p:grpSpPr>
          <a:xfrm rot="0">
            <a:off x="8084185" y="952500"/>
            <a:ext cx="3157220" cy="340995"/>
            <a:chOff x="10310" y="3522"/>
            <a:chExt cx="2938" cy="288"/>
          </a:xfrm>
        </p:grpSpPr>
        <p:sp>
          <p:nvSpPr>
            <p:cNvPr id="13" name="文本框 12"/>
            <p:cNvSpPr txBox="1"/>
            <p:nvPr/>
          </p:nvSpPr>
          <p:spPr>
            <a:xfrm>
              <a:off x="10310" y="3522"/>
              <a:ext cx="1246" cy="288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>
                      <a:lumMod val="75000"/>
                    </a:schemeClr>
                  </a:solidFill>
                </a14:hiddenFill>
              </a:ext>
            </a:extLst>
          </p:spPr>
          <p:txBody>
            <a:bodyPr wrap="square" rtlCol="0">
              <a:noAutofit/>
            </a:bodyPr>
            <a:p>
              <a:r>
                <a:rPr lang="zh-CN" altLang="en-US" sz="1000" i="1">
                  <a:solidFill>
                    <a:schemeClr val="bg1">
                      <a:lumMod val="75000"/>
                    </a:schemeClr>
                  </a:solidFill>
                </a:rPr>
                <a:t>起始时间</a:t>
              </a:r>
              <a:endParaRPr lang="zh-CN" altLang="en-US" sz="1000" i="1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1959" y="3522"/>
              <a:ext cx="1289" cy="248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>
                      <a:lumMod val="75000"/>
                    </a:schemeClr>
                  </a:solidFill>
                </a14:hiddenFill>
              </a:ext>
            </a:extLst>
          </p:spPr>
          <p:txBody>
            <a:bodyPr wrap="square" rtlCol="0">
              <a:noAutofit/>
            </a:bodyPr>
            <a:p>
              <a:r>
                <a:rPr lang="zh-CN" altLang="en-US" sz="1000" i="1">
                  <a:solidFill>
                    <a:schemeClr val="bg1">
                      <a:lumMod val="75000"/>
                    </a:schemeClr>
                  </a:solidFill>
                </a:rPr>
                <a:t>结束时间</a:t>
              </a:r>
              <a:endParaRPr lang="zh-CN" altLang="en-US" sz="1000" i="1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16" name="直接连接符 15"/>
            <p:cNvCxnSpPr/>
            <p:nvPr/>
          </p:nvCxnSpPr>
          <p:spPr>
            <a:xfrm flipV="1">
              <a:off x="11634" y="3669"/>
              <a:ext cx="227" cy="4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876935" y="678815"/>
            <a:ext cx="9362440" cy="59988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softEdge rad="127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92810" y="203835"/>
            <a:ext cx="9362440" cy="4749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72845" y="244475"/>
            <a:ext cx="2310765" cy="271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chemeClr val="bg1"/>
                </a:solidFill>
              </a:rPr>
              <a:t>文件管理系统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1044575" y="836930"/>
            <a:ext cx="8998585" cy="1922780"/>
          </a:xfrm>
          <a:prstGeom prst="roundRect">
            <a:avLst>
              <a:gd name="adj" fmla="val 597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1073150" y="1167765"/>
            <a:ext cx="8970010" cy="635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1268095" y="836930"/>
            <a:ext cx="1740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文件上传</a:t>
            </a:r>
            <a:endParaRPr lang="zh-CN" altLang="en-US" sz="1400" b="1"/>
          </a:p>
        </p:txBody>
      </p:sp>
      <p:sp>
        <p:nvSpPr>
          <p:cNvPr id="12" name="圆角矩形 11"/>
          <p:cNvSpPr/>
          <p:nvPr/>
        </p:nvSpPr>
        <p:spPr>
          <a:xfrm>
            <a:off x="1148715" y="1332865"/>
            <a:ext cx="1249045" cy="1275080"/>
          </a:xfrm>
          <a:prstGeom prst="roundRect">
            <a:avLst>
              <a:gd name="adj" fmla="val 12219"/>
            </a:avLst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sz="2800"/>
              <a:t>+</a:t>
            </a:r>
            <a:endParaRPr lang="en-US" altLang="zh-CN" sz="2800"/>
          </a:p>
        </p:txBody>
      </p:sp>
      <p:sp>
        <p:nvSpPr>
          <p:cNvPr id="13" name="圆角矩形 12"/>
          <p:cNvSpPr/>
          <p:nvPr/>
        </p:nvSpPr>
        <p:spPr>
          <a:xfrm>
            <a:off x="2517775" y="1332865"/>
            <a:ext cx="7404100" cy="1275080"/>
          </a:xfrm>
          <a:prstGeom prst="roundRect">
            <a:avLst>
              <a:gd name="adj" fmla="val 3767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254125" y="2066925"/>
            <a:ext cx="15906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 b="1"/>
              <a:t>点击或拖拽上传文件</a:t>
            </a:r>
            <a:endParaRPr lang="zh-CN" altLang="en-US" sz="800" b="1"/>
          </a:p>
          <a:p>
            <a:r>
              <a:rPr lang="en-US" altLang="zh-CN" sz="800" b="1"/>
              <a:t>   </a:t>
            </a:r>
            <a:r>
              <a:rPr lang="zh-CN" altLang="en-US" sz="800" b="1"/>
              <a:t>支持多文件上传</a:t>
            </a:r>
            <a:br>
              <a:rPr lang="zh-CN" altLang="en-US" sz="800" b="1"/>
            </a:br>
            <a:r>
              <a:rPr lang="zh-CN" altLang="en-US" sz="800" b="1"/>
              <a:t>每个文件不超</a:t>
            </a:r>
            <a:r>
              <a:rPr lang="en-US" altLang="zh-CN" sz="800" b="1"/>
              <a:t>100</a:t>
            </a:r>
            <a:r>
              <a:rPr lang="en-US" altLang="zh-CN" sz="800" b="1"/>
              <a:t>m</a:t>
            </a:r>
            <a:endParaRPr lang="en-US" altLang="zh-CN" sz="800" b="1"/>
          </a:p>
        </p:txBody>
      </p:sp>
      <p:sp>
        <p:nvSpPr>
          <p:cNvPr id="15" name="圆角矩形 14"/>
          <p:cNvSpPr/>
          <p:nvPr/>
        </p:nvSpPr>
        <p:spPr>
          <a:xfrm>
            <a:off x="2594610" y="1608455"/>
            <a:ext cx="1696720" cy="215265"/>
          </a:xfrm>
          <a:prstGeom prst="roundRect">
            <a:avLst>
              <a:gd name="adj" fmla="val 376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en-US" altLang="zh-CN" sz="1400"/>
              <a:t>file1.doc</a:t>
            </a:r>
            <a:endParaRPr lang="en-US" altLang="zh-CN" sz="1400"/>
          </a:p>
        </p:txBody>
      </p:sp>
      <p:sp>
        <p:nvSpPr>
          <p:cNvPr id="17" name="文本框 16"/>
          <p:cNvSpPr txBox="1"/>
          <p:nvPr/>
        </p:nvSpPr>
        <p:spPr>
          <a:xfrm>
            <a:off x="2654300" y="1332865"/>
            <a:ext cx="12985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文件名</a:t>
            </a:r>
            <a:endParaRPr lang="zh-CN" altLang="en-US" sz="1200"/>
          </a:p>
        </p:txBody>
      </p:sp>
      <p:sp>
        <p:nvSpPr>
          <p:cNvPr id="24" name="文本框 23"/>
          <p:cNvSpPr txBox="1"/>
          <p:nvPr/>
        </p:nvSpPr>
        <p:spPr>
          <a:xfrm>
            <a:off x="4872355" y="1335405"/>
            <a:ext cx="9982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文件格式</a:t>
            </a:r>
            <a:endParaRPr lang="zh-CN" altLang="en-US" sz="1200"/>
          </a:p>
        </p:txBody>
      </p:sp>
      <p:sp>
        <p:nvSpPr>
          <p:cNvPr id="25" name="圆角矩形 24"/>
          <p:cNvSpPr/>
          <p:nvPr/>
        </p:nvSpPr>
        <p:spPr>
          <a:xfrm>
            <a:off x="2594610" y="1875155"/>
            <a:ext cx="1696720" cy="215265"/>
          </a:xfrm>
          <a:prstGeom prst="roundRect">
            <a:avLst>
              <a:gd name="adj" fmla="val 376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altLang="zh-CN" sz="1400"/>
          </a:p>
        </p:txBody>
      </p:sp>
      <p:sp>
        <p:nvSpPr>
          <p:cNvPr id="26" name="圆角矩形 25"/>
          <p:cNvSpPr/>
          <p:nvPr/>
        </p:nvSpPr>
        <p:spPr>
          <a:xfrm>
            <a:off x="4363085" y="1608455"/>
            <a:ext cx="847725" cy="215265"/>
          </a:xfrm>
          <a:prstGeom prst="roundRect">
            <a:avLst>
              <a:gd name="adj" fmla="val 376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sz="1400"/>
              <a:t>word</a:t>
            </a:r>
            <a:endParaRPr lang="en-US" altLang="zh-CN" sz="1400"/>
          </a:p>
        </p:txBody>
      </p:sp>
      <p:sp>
        <p:nvSpPr>
          <p:cNvPr id="27" name="圆角矩形 26"/>
          <p:cNvSpPr/>
          <p:nvPr/>
        </p:nvSpPr>
        <p:spPr>
          <a:xfrm>
            <a:off x="5282565" y="1608455"/>
            <a:ext cx="4435475" cy="215265"/>
          </a:xfrm>
          <a:prstGeom prst="roundRect">
            <a:avLst>
              <a:gd name="adj" fmla="val 376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400"/>
              <a:t>这是一份员工</a:t>
            </a:r>
            <a:r>
              <a:rPr lang="zh-CN" altLang="en-US" sz="1400"/>
              <a:t>统计文档</a:t>
            </a:r>
            <a:endParaRPr lang="zh-CN" altLang="en-US" sz="1400"/>
          </a:p>
        </p:txBody>
      </p:sp>
      <p:sp>
        <p:nvSpPr>
          <p:cNvPr id="30" name="文本框 29"/>
          <p:cNvSpPr txBox="1"/>
          <p:nvPr/>
        </p:nvSpPr>
        <p:spPr>
          <a:xfrm>
            <a:off x="7423785" y="1332865"/>
            <a:ext cx="8636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文件描述</a:t>
            </a:r>
            <a:endParaRPr lang="zh-CN" altLang="en-US" sz="1200"/>
          </a:p>
        </p:txBody>
      </p:sp>
      <p:sp>
        <p:nvSpPr>
          <p:cNvPr id="31" name="圆角矩形 30"/>
          <p:cNvSpPr/>
          <p:nvPr/>
        </p:nvSpPr>
        <p:spPr>
          <a:xfrm>
            <a:off x="5282565" y="1872615"/>
            <a:ext cx="4434840" cy="215265"/>
          </a:xfrm>
          <a:prstGeom prst="roundRect">
            <a:avLst>
              <a:gd name="adj" fmla="val 376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400"/>
          </a:p>
        </p:txBody>
      </p:sp>
      <p:sp>
        <p:nvSpPr>
          <p:cNvPr id="33" name="圆角矩形 32"/>
          <p:cNvSpPr/>
          <p:nvPr/>
        </p:nvSpPr>
        <p:spPr>
          <a:xfrm>
            <a:off x="1073150" y="2971800"/>
            <a:ext cx="8998585" cy="3641725"/>
          </a:xfrm>
          <a:prstGeom prst="roundRect">
            <a:avLst>
              <a:gd name="adj" fmla="val 367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4" name="直接连接符 33"/>
          <p:cNvCxnSpPr/>
          <p:nvPr/>
        </p:nvCxnSpPr>
        <p:spPr>
          <a:xfrm>
            <a:off x="967740" y="3255010"/>
            <a:ext cx="9075420" cy="698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圆角矩形 34"/>
          <p:cNvSpPr/>
          <p:nvPr/>
        </p:nvSpPr>
        <p:spPr>
          <a:xfrm>
            <a:off x="9804400" y="1332865"/>
            <a:ext cx="118745" cy="1275080"/>
          </a:xfrm>
          <a:prstGeom prst="roundRect">
            <a:avLst>
              <a:gd name="adj" fmla="val 3767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圆角矩形 35"/>
          <p:cNvSpPr/>
          <p:nvPr/>
        </p:nvSpPr>
        <p:spPr>
          <a:xfrm>
            <a:off x="9805670" y="1335405"/>
            <a:ext cx="118745" cy="593725"/>
          </a:xfrm>
          <a:prstGeom prst="roundRect">
            <a:avLst>
              <a:gd name="adj" fmla="val 3767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1276350" y="2936875"/>
            <a:ext cx="11861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文件列表</a:t>
            </a:r>
            <a:endParaRPr lang="zh-CN" altLang="en-US" sz="1400" b="1"/>
          </a:p>
        </p:txBody>
      </p:sp>
      <p:sp>
        <p:nvSpPr>
          <p:cNvPr id="38" name="圆角矩形 37"/>
          <p:cNvSpPr/>
          <p:nvPr/>
        </p:nvSpPr>
        <p:spPr>
          <a:xfrm>
            <a:off x="8566785" y="880110"/>
            <a:ext cx="1010920" cy="243840"/>
          </a:xfrm>
          <a:prstGeom prst="roundRect">
            <a:avLst>
              <a:gd name="adj" fmla="val 23780"/>
            </a:avLst>
          </a:prstGeom>
          <a:solidFill>
            <a:srgbClr val="2E54A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/>
              <a:t>提交上传</a:t>
            </a:r>
            <a:endParaRPr lang="zh-CN" altLang="en-US" sz="1200" b="1"/>
          </a:p>
        </p:txBody>
      </p:sp>
      <p:sp>
        <p:nvSpPr>
          <p:cNvPr id="32" name="圆角矩形 31"/>
          <p:cNvSpPr/>
          <p:nvPr/>
        </p:nvSpPr>
        <p:spPr>
          <a:xfrm>
            <a:off x="4363085" y="1854200"/>
            <a:ext cx="847090" cy="1562735"/>
          </a:xfrm>
          <a:prstGeom prst="roundRect">
            <a:avLst>
              <a:gd name="adj" fmla="val 194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en-US" altLang="zh-CN" sz="1000"/>
              <a:t>Word</a:t>
            </a:r>
            <a:endParaRPr lang="en-US" altLang="zh-CN" sz="1000"/>
          </a:p>
          <a:p>
            <a:pPr algn="l"/>
            <a:r>
              <a:rPr lang="en-US" altLang="zh-CN" sz="1000"/>
              <a:t>Excel</a:t>
            </a:r>
            <a:endParaRPr lang="en-US" altLang="zh-CN" sz="1000"/>
          </a:p>
          <a:p>
            <a:pPr algn="l"/>
            <a:r>
              <a:rPr lang="en-US" altLang="zh-CN" sz="1000"/>
              <a:t>PPT</a:t>
            </a:r>
            <a:endParaRPr lang="en-US" altLang="zh-CN" sz="1000"/>
          </a:p>
          <a:p>
            <a:pPr algn="l"/>
            <a:r>
              <a:rPr lang="en-US" altLang="zh-CN" sz="1000"/>
              <a:t>Pdf</a:t>
            </a:r>
            <a:endParaRPr lang="en-US" altLang="zh-CN" sz="1000"/>
          </a:p>
          <a:p>
            <a:pPr algn="l"/>
            <a:r>
              <a:rPr lang="zh-CN" altLang="en-US" sz="1000"/>
              <a:t>图片</a:t>
            </a:r>
            <a:endParaRPr lang="zh-CN" altLang="en-US" sz="1000"/>
          </a:p>
          <a:p>
            <a:pPr algn="l"/>
            <a:r>
              <a:rPr lang="zh-CN" altLang="en-US" sz="1000"/>
              <a:t>视频</a:t>
            </a:r>
            <a:endParaRPr lang="zh-CN" altLang="en-US" sz="1000"/>
          </a:p>
          <a:p>
            <a:pPr algn="l"/>
            <a:r>
              <a:rPr lang="zh-CN" altLang="en-US" sz="1000"/>
              <a:t>音频</a:t>
            </a:r>
            <a:endParaRPr lang="zh-CN" altLang="en-US" sz="1000"/>
          </a:p>
          <a:p>
            <a:pPr algn="l"/>
            <a:r>
              <a:rPr lang="en-US" altLang="zh-CN" sz="1000"/>
              <a:t>3D</a:t>
            </a:r>
            <a:r>
              <a:rPr lang="zh-CN" altLang="en-US" sz="1000"/>
              <a:t>模型</a:t>
            </a:r>
            <a:endParaRPr lang="zh-CN" altLang="en-US" sz="1000"/>
          </a:p>
          <a:p>
            <a:pPr algn="l"/>
            <a:r>
              <a:rPr lang="zh-CN" altLang="en-US" sz="1000"/>
              <a:t>其他</a:t>
            </a:r>
            <a:endParaRPr lang="zh-CN" altLang="en-US" sz="1000"/>
          </a:p>
          <a:p>
            <a:pPr algn="l"/>
            <a:endParaRPr lang="zh-CN" altLang="en-US" sz="1000"/>
          </a:p>
        </p:txBody>
      </p:sp>
      <p:sp>
        <p:nvSpPr>
          <p:cNvPr id="39" name="矩形 38"/>
          <p:cNvSpPr/>
          <p:nvPr/>
        </p:nvSpPr>
        <p:spPr>
          <a:xfrm>
            <a:off x="5281930" y="2971800"/>
            <a:ext cx="1321435" cy="2178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</a:rPr>
              <a:t>文件名，描述，模糊搜索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6682740" y="2971800"/>
            <a:ext cx="497205" cy="2178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</a:rPr>
              <a:t>上传人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7259320" y="2971800"/>
            <a:ext cx="483235" cy="2178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</a:rPr>
              <a:t>部门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821930" y="2971800"/>
            <a:ext cx="629920" cy="2178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</a:rPr>
              <a:t>起始时间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9093835" y="2971800"/>
            <a:ext cx="629920" cy="2178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>
                <a:solidFill>
                  <a:schemeClr val="tx1"/>
                </a:solidFill>
              </a:rPr>
              <a:t>结束时间</a:t>
            </a:r>
            <a:endParaRPr lang="zh-CN" altLang="en-US" sz="800">
              <a:solidFill>
                <a:schemeClr val="tx1"/>
              </a:solidFill>
            </a:endParaRPr>
          </a:p>
        </p:txBody>
      </p:sp>
      <p:cxnSp>
        <p:nvCxnSpPr>
          <p:cNvPr id="45" name="直接连接符 44"/>
          <p:cNvCxnSpPr/>
          <p:nvPr/>
        </p:nvCxnSpPr>
        <p:spPr>
          <a:xfrm flipV="1">
            <a:off x="8541385" y="3081020"/>
            <a:ext cx="489585" cy="31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6" name="圆角矩形 45"/>
          <p:cNvSpPr/>
          <p:nvPr/>
        </p:nvSpPr>
        <p:spPr>
          <a:xfrm>
            <a:off x="1214120" y="3272790"/>
            <a:ext cx="697230" cy="193675"/>
          </a:xfrm>
          <a:prstGeom prst="roundRect">
            <a:avLst>
              <a:gd name="adj" fmla="val 37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/>
              <a:t>全部</a:t>
            </a:r>
            <a:endParaRPr lang="zh-CN" altLang="en-US" sz="1200"/>
          </a:p>
        </p:txBody>
      </p:sp>
      <p:sp>
        <p:nvSpPr>
          <p:cNvPr id="47" name="圆角矩形 46"/>
          <p:cNvSpPr/>
          <p:nvPr/>
        </p:nvSpPr>
        <p:spPr>
          <a:xfrm>
            <a:off x="1911350" y="3273425"/>
            <a:ext cx="697230" cy="193675"/>
          </a:xfrm>
          <a:prstGeom prst="roundRect">
            <a:avLst>
              <a:gd name="adj" fmla="val 37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sz="1200"/>
              <a:t>word</a:t>
            </a:r>
            <a:endParaRPr lang="en-US" altLang="zh-CN" sz="1200"/>
          </a:p>
        </p:txBody>
      </p:sp>
      <p:sp>
        <p:nvSpPr>
          <p:cNvPr id="48" name="圆角矩形 47"/>
          <p:cNvSpPr/>
          <p:nvPr/>
        </p:nvSpPr>
        <p:spPr>
          <a:xfrm>
            <a:off x="2608580" y="3274060"/>
            <a:ext cx="697230" cy="193675"/>
          </a:xfrm>
          <a:prstGeom prst="roundRect">
            <a:avLst>
              <a:gd name="adj" fmla="val 37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sz="1200"/>
              <a:t>excel</a:t>
            </a:r>
            <a:endParaRPr lang="en-US" altLang="zh-CN" sz="1200"/>
          </a:p>
        </p:txBody>
      </p:sp>
      <p:sp>
        <p:nvSpPr>
          <p:cNvPr id="49" name="圆角矩形 48"/>
          <p:cNvSpPr/>
          <p:nvPr/>
        </p:nvSpPr>
        <p:spPr>
          <a:xfrm>
            <a:off x="3305810" y="3274695"/>
            <a:ext cx="697230" cy="193675"/>
          </a:xfrm>
          <a:prstGeom prst="roundRect">
            <a:avLst>
              <a:gd name="adj" fmla="val 37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sz="1200"/>
              <a:t>ppt</a:t>
            </a:r>
            <a:endParaRPr lang="en-US" altLang="zh-CN" sz="1200"/>
          </a:p>
        </p:txBody>
      </p:sp>
      <p:sp>
        <p:nvSpPr>
          <p:cNvPr id="50" name="圆角矩形 49"/>
          <p:cNvSpPr/>
          <p:nvPr/>
        </p:nvSpPr>
        <p:spPr>
          <a:xfrm>
            <a:off x="4003040" y="3275330"/>
            <a:ext cx="697230" cy="193675"/>
          </a:xfrm>
          <a:prstGeom prst="roundRect">
            <a:avLst>
              <a:gd name="adj" fmla="val 37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sz="1200"/>
              <a:t>pdf</a:t>
            </a:r>
            <a:endParaRPr lang="en-US" altLang="zh-CN" sz="1200"/>
          </a:p>
        </p:txBody>
      </p:sp>
      <p:sp>
        <p:nvSpPr>
          <p:cNvPr id="51" name="圆角矩形 50"/>
          <p:cNvSpPr/>
          <p:nvPr/>
        </p:nvSpPr>
        <p:spPr>
          <a:xfrm>
            <a:off x="4700270" y="3275965"/>
            <a:ext cx="697230" cy="193675"/>
          </a:xfrm>
          <a:prstGeom prst="roundRect">
            <a:avLst>
              <a:gd name="adj" fmla="val 37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/>
              <a:t>图片</a:t>
            </a:r>
            <a:endParaRPr lang="zh-CN" altLang="en-US" sz="1200"/>
          </a:p>
        </p:txBody>
      </p:sp>
      <p:sp>
        <p:nvSpPr>
          <p:cNvPr id="52" name="圆角矩形 51"/>
          <p:cNvSpPr/>
          <p:nvPr/>
        </p:nvSpPr>
        <p:spPr>
          <a:xfrm>
            <a:off x="5397500" y="3276600"/>
            <a:ext cx="697230" cy="193675"/>
          </a:xfrm>
          <a:prstGeom prst="roundRect">
            <a:avLst>
              <a:gd name="adj" fmla="val 37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/>
              <a:t>视频</a:t>
            </a:r>
            <a:endParaRPr lang="zh-CN" altLang="en-US" sz="1200"/>
          </a:p>
        </p:txBody>
      </p:sp>
      <p:sp>
        <p:nvSpPr>
          <p:cNvPr id="53" name="圆角矩形 52"/>
          <p:cNvSpPr/>
          <p:nvPr/>
        </p:nvSpPr>
        <p:spPr>
          <a:xfrm>
            <a:off x="6094730" y="3277235"/>
            <a:ext cx="697230" cy="193675"/>
          </a:xfrm>
          <a:prstGeom prst="roundRect">
            <a:avLst>
              <a:gd name="adj" fmla="val 37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/>
              <a:t>音频</a:t>
            </a:r>
            <a:endParaRPr lang="zh-CN" altLang="en-US" sz="1200"/>
          </a:p>
        </p:txBody>
      </p:sp>
      <p:sp>
        <p:nvSpPr>
          <p:cNvPr id="54" name="圆角矩形 53"/>
          <p:cNvSpPr/>
          <p:nvPr/>
        </p:nvSpPr>
        <p:spPr>
          <a:xfrm>
            <a:off x="6791960" y="3277870"/>
            <a:ext cx="844550" cy="193675"/>
          </a:xfrm>
          <a:prstGeom prst="roundRect">
            <a:avLst>
              <a:gd name="adj" fmla="val 37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sz="1200"/>
              <a:t>3D</a:t>
            </a:r>
            <a:r>
              <a:rPr lang="zh-CN" altLang="en-US" sz="1200"/>
              <a:t>模型</a:t>
            </a:r>
            <a:endParaRPr lang="zh-CN" altLang="en-US" sz="1200"/>
          </a:p>
        </p:txBody>
      </p:sp>
      <p:sp>
        <p:nvSpPr>
          <p:cNvPr id="55" name="圆角矩形 54"/>
          <p:cNvSpPr/>
          <p:nvPr/>
        </p:nvSpPr>
        <p:spPr>
          <a:xfrm>
            <a:off x="7636510" y="3278505"/>
            <a:ext cx="844550" cy="193675"/>
          </a:xfrm>
          <a:prstGeom prst="roundRect">
            <a:avLst>
              <a:gd name="adj" fmla="val 37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/>
              <a:t>其他</a:t>
            </a:r>
            <a:endParaRPr lang="zh-CN" altLang="en-US" sz="1200"/>
          </a:p>
        </p:txBody>
      </p:sp>
      <p:sp>
        <p:nvSpPr>
          <p:cNvPr id="56" name="圆角矩形 55"/>
          <p:cNvSpPr/>
          <p:nvPr/>
        </p:nvSpPr>
        <p:spPr>
          <a:xfrm>
            <a:off x="1213485" y="3465195"/>
            <a:ext cx="8710930" cy="231775"/>
          </a:xfrm>
          <a:prstGeom prst="roundRect">
            <a:avLst>
              <a:gd name="adj" fmla="val 3767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en-US" altLang="zh-CN" sz="1000"/>
              <a:t>   </a:t>
            </a:r>
            <a:r>
              <a:rPr lang="zh-CN" altLang="en-US" sz="1000"/>
              <a:t>编号</a:t>
            </a:r>
            <a:r>
              <a:rPr lang="en-US" altLang="zh-CN" sz="1000"/>
              <a:t>        </a:t>
            </a:r>
            <a:r>
              <a:rPr lang="zh-CN" altLang="en-US" sz="1000"/>
              <a:t>文件名</a:t>
            </a:r>
            <a:r>
              <a:rPr lang="en-US" altLang="zh-CN" sz="1000"/>
              <a:t>      </a:t>
            </a:r>
            <a:r>
              <a:rPr lang="zh-CN" altLang="en-US" sz="1000">
                <a:sym typeface="+mn-ea"/>
              </a:rPr>
              <a:t>类型</a:t>
            </a:r>
            <a:r>
              <a:rPr lang="en-US" altLang="zh-CN" sz="1000"/>
              <a:t>                 </a:t>
            </a:r>
            <a:r>
              <a:rPr lang="zh-CN" altLang="en-US" sz="1000">
                <a:sym typeface="+mn-ea"/>
              </a:rPr>
              <a:t>描述</a:t>
            </a:r>
            <a:r>
              <a:rPr lang="en-US" altLang="zh-CN" sz="1000"/>
              <a:t>               </a:t>
            </a:r>
            <a:r>
              <a:rPr lang="en-US" altLang="zh-CN" sz="1000">
                <a:sym typeface="+mn-ea"/>
              </a:rPr>
              <a:t>  </a:t>
            </a:r>
            <a:r>
              <a:rPr lang="en-US" altLang="zh-CN" sz="1000"/>
              <a:t>                   </a:t>
            </a:r>
            <a:r>
              <a:rPr lang="zh-CN" altLang="en-US" sz="1000">
                <a:sym typeface="+mn-ea"/>
              </a:rPr>
              <a:t>上传人</a:t>
            </a:r>
            <a:r>
              <a:rPr lang="en-US" altLang="zh-CN" sz="1000"/>
              <a:t>       </a:t>
            </a:r>
            <a:r>
              <a:rPr lang="zh-CN" altLang="en-US" sz="1000">
                <a:sym typeface="+mn-ea"/>
              </a:rPr>
              <a:t>上传时间</a:t>
            </a:r>
            <a:r>
              <a:rPr lang="en-US" altLang="zh-CN" sz="1000"/>
              <a:t>        </a:t>
            </a:r>
            <a:r>
              <a:rPr lang="zh-CN" altLang="en-US" sz="1000">
                <a:sym typeface="+mn-ea"/>
              </a:rPr>
              <a:t>文件大小</a:t>
            </a:r>
            <a:r>
              <a:rPr lang="en-US" altLang="zh-CN" sz="1000">
                <a:sym typeface="+mn-ea"/>
              </a:rPr>
              <a:t>  </a:t>
            </a:r>
            <a:r>
              <a:rPr lang="en-US" altLang="zh-CN" sz="1000"/>
              <a:t>                 </a:t>
            </a:r>
            <a:r>
              <a:rPr lang="zh-CN" altLang="en-US" sz="1000"/>
              <a:t>缩略图</a:t>
            </a:r>
            <a:r>
              <a:rPr lang="en-US" altLang="zh-CN" sz="1000"/>
              <a:t>                            </a:t>
            </a:r>
            <a:r>
              <a:rPr lang="zh-CN" altLang="en-US" sz="1000"/>
              <a:t>操作</a:t>
            </a:r>
            <a:r>
              <a:rPr lang="en-US" altLang="zh-CN" sz="1000"/>
              <a:t>    </a:t>
            </a:r>
            <a:endParaRPr lang="en-US" altLang="zh-CN" sz="1000"/>
          </a:p>
        </p:txBody>
      </p:sp>
      <p:sp>
        <p:nvSpPr>
          <p:cNvPr id="58" name="圆角矩形 57"/>
          <p:cNvSpPr/>
          <p:nvPr/>
        </p:nvSpPr>
        <p:spPr>
          <a:xfrm>
            <a:off x="9848215" y="3759835"/>
            <a:ext cx="76200" cy="1494790"/>
          </a:xfrm>
          <a:prstGeom prst="roundRect">
            <a:avLst>
              <a:gd name="adj" fmla="val 3767"/>
            </a:avLst>
          </a:prstGeom>
          <a:solidFill>
            <a:srgbClr val="2E54A1"/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endParaRPr lang="en-US" altLang="zh-CN" sz="1000"/>
          </a:p>
        </p:txBody>
      </p:sp>
      <p:grpSp>
        <p:nvGrpSpPr>
          <p:cNvPr id="59" name="组合 58"/>
          <p:cNvGrpSpPr/>
          <p:nvPr/>
        </p:nvGrpSpPr>
        <p:grpSpPr>
          <a:xfrm>
            <a:off x="8338820" y="3724910"/>
            <a:ext cx="469900" cy="167640"/>
            <a:chOff x="12872" y="5085"/>
            <a:chExt cx="740" cy="264"/>
          </a:xfrm>
          <a:solidFill>
            <a:schemeClr val="accent1"/>
          </a:solidFill>
        </p:grpSpPr>
        <p:sp>
          <p:nvSpPr>
            <p:cNvPr id="60" name="圆角矩形 59"/>
            <p:cNvSpPr/>
            <p:nvPr/>
          </p:nvSpPr>
          <p:spPr>
            <a:xfrm>
              <a:off x="12897" y="5093"/>
              <a:ext cx="632" cy="248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12872" y="5085"/>
              <a:ext cx="741" cy="2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p>
              <a:r>
                <a:rPr lang="zh-CN" altLang="en-US" sz="5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复制</a:t>
              </a:r>
              <a:r>
                <a:rPr lang="en-US" altLang="zh-CN" sz="5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URL</a:t>
              </a:r>
              <a:endParaRPr lang="en-US" altLang="zh-CN" sz="5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8822690" y="3724910"/>
            <a:ext cx="319405" cy="168275"/>
            <a:chOff x="13072" y="5285"/>
            <a:chExt cx="598" cy="265"/>
          </a:xfrm>
          <a:solidFill>
            <a:schemeClr val="accent1"/>
          </a:solidFill>
        </p:grpSpPr>
        <p:sp>
          <p:nvSpPr>
            <p:cNvPr id="63" name="圆角矩形 62"/>
            <p:cNvSpPr/>
            <p:nvPr/>
          </p:nvSpPr>
          <p:spPr>
            <a:xfrm>
              <a:off x="13097" y="5293"/>
              <a:ext cx="518" cy="248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13072" y="5285"/>
              <a:ext cx="598" cy="2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p>
              <a:r>
                <a:rPr lang="zh-CN" altLang="en-US" sz="5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下载</a:t>
              </a:r>
              <a:endParaRPr lang="zh-CN" altLang="en-US" sz="5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9163685" y="3724910"/>
            <a:ext cx="319405" cy="168275"/>
            <a:chOff x="13072" y="5285"/>
            <a:chExt cx="598" cy="265"/>
          </a:xfrm>
          <a:solidFill>
            <a:schemeClr val="accent1"/>
          </a:solidFill>
        </p:grpSpPr>
        <p:sp>
          <p:nvSpPr>
            <p:cNvPr id="68" name="圆角矩形 67"/>
            <p:cNvSpPr/>
            <p:nvPr/>
          </p:nvSpPr>
          <p:spPr>
            <a:xfrm>
              <a:off x="13097" y="5293"/>
              <a:ext cx="518" cy="248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13072" y="5285"/>
              <a:ext cx="598" cy="2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p>
              <a:r>
                <a:rPr lang="zh-CN" altLang="en-US" sz="5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修改</a:t>
              </a:r>
              <a:endParaRPr lang="zh-CN" altLang="en-US" sz="5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9499600" y="3724910"/>
            <a:ext cx="319405" cy="168275"/>
            <a:chOff x="13072" y="5285"/>
            <a:chExt cx="598" cy="265"/>
          </a:xfrm>
          <a:solidFill>
            <a:schemeClr val="accent1"/>
          </a:solidFill>
        </p:grpSpPr>
        <p:sp>
          <p:nvSpPr>
            <p:cNvPr id="71" name="圆角矩形 70"/>
            <p:cNvSpPr/>
            <p:nvPr/>
          </p:nvSpPr>
          <p:spPr>
            <a:xfrm>
              <a:off x="13097" y="5293"/>
              <a:ext cx="518" cy="248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13072" y="5285"/>
              <a:ext cx="598" cy="2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p>
              <a:r>
                <a:rPr lang="zh-CN" altLang="en-US" sz="5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删除</a:t>
              </a:r>
              <a:endParaRPr lang="zh-CN" altLang="en-US" sz="5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9163685" y="1598295"/>
            <a:ext cx="470535" cy="213995"/>
            <a:chOff x="12872" y="5085"/>
            <a:chExt cx="741" cy="337"/>
          </a:xfrm>
          <a:solidFill>
            <a:schemeClr val="accent1"/>
          </a:solidFill>
        </p:grpSpPr>
        <p:sp>
          <p:nvSpPr>
            <p:cNvPr id="65" name="圆角矩形 64"/>
            <p:cNvSpPr/>
            <p:nvPr/>
          </p:nvSpPr>
          <p:spPr>
            <a:xfrm>
              <a:off x="12897" y="5093"/>
              <a:ext cx="632" cy="248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12872" y="5085"/>
              <a:ext cx="741" cy="33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p>
              <a:r>
                <a:rPr lang="zh-CN" altLang="en-US" sz="8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删除</a:t>
              </a:r>
              <a:endParaRPr lang="zh-CN" altLang="en-US" sz="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9163685" y="1872615"/>
            <a:ext cx="470535" cy="213995"/>
            <a:chOff x="12872" y="5085"/>
            <a:chExt cx="741" cy="337"/>
          </a:xfrm>
          <a:solidFill>
            <a:schemeClr val="accent1"/>
          </a:solidFill>
        </p:grpSpPr>
        <p:sp>
          <p:nvSpPr>
            <p:cNvPr id="75" name="圆角矩形 74"/>
            <p:cNvSpPr/>
            <p:nvPr/>
          </p:nvSpPr>
          <p:spPr>
            <a:xfrm>
              <a:off x="12897" y="5093"/>
              <a:ext cx="632" cy="248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6" name="文本框 75"/>
            <p:cNvSpPr txBox="1"/>
            <p:nvPr/>
          </p:nvSpPr>
          <p:spPr>
            <a:xfrm>
              <a:off x="12872" y="5085"/>
              <a:ext cx="741" cy="33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p>
              <a:r>
                <a:rPr lang="zh-CN" altLang="en-US" sz="8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删除</a:t>
              </a:r>
              <a:endParaRPr lang="zh-CN" altLang="en-US" sz="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77" name="圆角矩形 76"/>
          <p:cNvSpPr/>
          <p:nvPr/>
        </p:nvSpPr>
        <p:spPr>
          <a:xfrm>
            <a:off x="8706485" y="1332865"/>
            <a:ext cx="1010920" cy="243840"/>
          </a:xfrm>
          <a:prstGeom prst="roundRect">
            <a:avLst>
              <a:gd name="adj" fmla="val 2378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E54A1"/>
                </a:solidFill>
              </a14:hiddenFill>
            </a:ext>
          </a:ex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操作</a:t>
            </a:r>
            <a:r>
              <a:rPr lang="zh-CN" altLang="en-US" sz="1200" b="1"/>
              <a:t>作</a:t>
            </a:r>
            <a:endParaRPr lang="zh-CN" altLang="en-US" sz="1200" b="1"/>
          </a:p>
        </p:txBody>
      </p:sp>
      <p:pic>
        <p:nvPicPr>
          <p:cNvPr id="78" name="图片 7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1855" y="6263640"/>
            <a:ext cx="1092200" cy="194310"/>
          </a:xfrm>
          <a:prstGeom prst="rect">
            <a:avLst/>
          </a:prstGeom>
        </p:spPr>
      </p:pic>
      <p:sp>
        <p:nvSpPr>
          <p:cNvPr id="89" name="文本框 88"/>
          <p:cNvSpPr txBox="1"/>
          <p:nvPr/>
        </p:nvSpPr>
        <p:spPr>
          <a:xfrm>
            <a:off x="5882005" y="6293485"/>
            <a:ext cx="581025" cy="1682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p>
            <a:r>
              <a:rPr lang="zh-CN" altLang="en-US" sz="500"/>
              <a:t>分页：</a:t>
            </a:r>
            <a:endParaRPr lang="zh-CN" altLang="en-US" sz="500"/>
          </a:p>
        </p:txBody>
      </p:sp>
      <p:sp>
        <p:nvSpPr>
          <p:cNvPr id="91" name="文本框 90"/>
          <p:cNvSpPr txBox="1"/>
          <p:nvPr/>
        </p:nvSpPr>
        <p:spPr>
          <a:xfrm>
            <a:off x="6102350" y="6142990"/>
            <a:ext cx="295275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500"/>
              <a:t>100</a:t>
            </a:r>
            <a:endParaRPr lang="en-US" altLang="zh-CN" sz="500"/>
          </a:p>
          <a:p>
            <a:r>
              <a:rPr lang="en-US" altLang="zh-CN" sz="500"/>
              <a:t>50</a:t>
            </a:r>
            <a:endParaRPr lang="en-US" altLang="zh-CN" sz="500"/>
          </a:p>
          <a:p>
            <a:r>
              <a:rPr lang="en-US" altLang="zh-CN" sz="500"/>
              <a:t>20</a:t>
            </a:r>
            <a:endParaRPr lang="en-US" altLang="zh-CN" sz="50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597</Words>
  <Application>WPS 演示</Application>
  <PresentationFormat>宽屏</PresentationFormat>
  <Paragraphs>202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lane6008</cp:lastModifiedBy>
  <cp:revision>169</cp:revision>
  <dcterms:created xsi:type="dcterms:W3CDTF">2019-06-19T02:08:00Z</dcterms:created>
  <dcterms:modified xsi:type="dcterms:W3CDTF">2026-03-25T14:11:39Z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47A3CA3EB80B4CE282C5602B9B8C7D5C_13</vt:lpwstr>
  </property>
</Properties>
</file>